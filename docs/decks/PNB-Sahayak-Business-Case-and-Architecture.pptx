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Arial"/>
              </a:rPr>
              <a:t>Cost per lookup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lookup</c:v>
                </c:pt>
              </c:strCache>
            </c:strRef>
          </c:tx>
          <c:spPr>
            <a:solidFill>
              <a:srgbClr val="EC7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7A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5BD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Manual (staff time)</c:v>
                  </c:pt>
                  <c:pt idx="1">
                    <c:v>AI-assisted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0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0432"/>
            <a:ext cx="9144000" cy="2788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9480" y="15179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2395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PNB GENAI RFP  ·  USE CASE 7  ·  EMPLOYEE PRODUCTIVITY ASSISTANT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3504" y="2651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PNB Sahayak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sovereign, multilingual employee-productivity assistant for PNB, built on Sarvam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4439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Vibhor Bansal   ·   Pre-Sales / Solution Architect   ·   Prepared for Punjab National Bank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41148" cy="960120"/>
          </a:xfrm>
          <a:prstGeom prst="rect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lose time searching scattered policies, SOPs and circulars — and drafting routine notes by hand. Use Case 7 asks for a secure, governed assistant that answers, interprets clauses with citations, and drafts, from approved sources.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41148" cy="960120"/>
          </a:xfrm>
          <a:prstGeom prst="rect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060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2130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multilingual voice assistant that answers policy questions and drafts routine emails and notes — from approved documents, with citations.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41148" cy="960120"/>
          </a:xfrm>
          <a:prstGeom prst="rect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34107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~₹3–5 vs ~₹80–100 per lookup; ~2.8M staff-hours per year recovered across ~100,000 staff.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3063240"/>
            <a:ext cx="41148" cy="960120"/>
          </a:xfrm>
          <a:prstGeom prst="rect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0060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Sarvam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00600" y="34107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languages, low latency, on-prem and sovereign — it meets the RFP's own mandates.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24528"/>
            <a:ext cx="8138160" cy="512064"/>
          </a:xfrm>
          <a:prstGeom prst="roundRect">
            <a:avLst>
              <a:gd name="adj" fmla="val 7143"/>
            </a:avLst>
          </a:prstGeom>
          <a:solidFill>
            <a:srgbClr val="F7F5F2"/>
          </a:solidFill>
          <a:ln w="1270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2245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time-boxed on-prem pilot for one function, then scale to the full eight-use-case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  ·   RFP USE CASE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Productivity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RFP asks for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secure, internal GenAI assistant that lets staff ask, in natural language, about policies, SOPs and circulars — interpreting clauses with source attribution and drafting routine content (emails, notes, reports) — using only approved sources, with governance, auditability and data confidentiality.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today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84832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hunt through scattered, inconsistently-versioned circulars, SOPs and FAQs for answers — often with a customer waiting.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content — customer emails, notes and replies — is drafted from scratch each time, adding more time per task.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 tools underserve staff working across Hindi, English, Hinglish and 8+ more Indian languages.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81381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3767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102,746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3035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767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10,189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31927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767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11+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0819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5628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 National Bank, 31 Mar 2025 — at this scale, minutes lost per lookup are a large, recurring drain.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multilingual voice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F7F5F2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996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830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user.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Branch, operations and field staff with varying digital literacy, working in many languages and code-mixing. Asking a question by voice is faster than searching documents.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900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971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language, hands-free 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 aloud — no keyword-guessing through PDFs.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570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538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Answered in the user's language 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English, Hinglish and more — replied to in kind.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2394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1056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and accountable 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its source and declines when unsure — not guesswork.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Sarvam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case, in four points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13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46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languages + code-mixing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51560" y="21671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22+ languages, native Hinglish — generic US LLMs can't match this.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013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746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latency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166360" y="21671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Sarvam-30B, their recommended voice model — responsive spoken replies.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644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09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&amp; data sovereignty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051560" y="36301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the RFP's on-prem, DPDP and RBI mandate; cloud LLMs struggle.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64408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66360" y="3209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complete stack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5166360" y="36301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STT, TTS, LLM, Translate and OCR from one vendor; Vision leads on Indic OCR.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real bid, Sarvam is the AI stack under an implementation partner — this is where that stack is decisive.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proof of concept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10896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73736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PNB Sahayak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224028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27048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Pension life certificate kab jama karna hai?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285292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saal November mein jama karna hota hai, taaki pension chalti rahe.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" y="3639312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BE7D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3816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Life Certificate Circular (LC 10/2019)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74520" y="4023360"/>
            <a:ext cx="365760" cy="365760"/>
          </a:xfrm>
          <a:prstGeom prst="ellipse">
            <a:avLst/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4123944"/>
            <a:ext cx="164592" cy="16459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79222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07992" y="17465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voice Q&amp;A (11 Indian languages + Hinglish)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23113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07992" y="2185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 with source citations on 56 real PNB docs (~1,683 passages)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67004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07992" y="26243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routine emails and notes, grounded in approved policy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108960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07992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refusal + automatic escalation to a tracked ticket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547872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07992" y="35021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dashboard + audit logging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3986784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07992" y="3941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on-screen captions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160520" y="44714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3-minute demo video is included.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voice to grounded answer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28600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2860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94560" y="228600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Saaras STT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22860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86200" y="228600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2860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77840" y="228600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&amp; cite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228600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269480" y="228600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Bulbul TTS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01952" y="2720340"/>
            <a:ext cx="26517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93592" y="2720340"/>
            <a:ext cx="26517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85232" y="2720340"/>
            <a:ext cx="26517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76872" y="2720340"/>
            <a:ext cx="26517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0" y="3172968"/>
            <a:ext cx="0" cy="457200"/>
          </a:xfrm>
          <a:prstGeom prst="line">
            <a:avLst/>
          </a:prstGeom>
          <a:noFill/>
          <a:ln w="15875">
            <a:solidFill>
              <a:srgbClr val="EC7A12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337560" y="3630168"/>
            <a:ext cx="2468880" cy="457200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 w="1270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37560" y="3630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relevant source → auto-escalate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come only from approved PNB documents; every answer cites its source and escalates when unsure. Full technical architecture is in the appendix.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ROI, in one chart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3931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~30M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355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queries per year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2395728"/>
            <a:ext cx="39319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09160" y="2514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35508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auto-resolved instantly, with citations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3081528"/>
            <a:ext cx="39319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70916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~2.8M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55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staff-hours per year recovered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09160" y="3767328"/>
            <a:ext cx="39319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02920" y="4480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Illustrative; assumptions stated (≈ 40,000 frontline staff × ~3 lookups/day × 250 days). Validate per-query cost against Sarvam's pricing.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path to production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is — and isn't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proof of concept on public PNB documents — not yet a production system.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is solid on core topics; a few edge questions still need precision tuning.</a:t>
            </a:r>
            <a:endParaRPr lang="en-US" sz="1150" dirty="0"/>
          </a:p>
          <a:p>
            <a:pPr marL="203200" indent="-2032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is shown as live captions; telephony and an outbound agent are next.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0916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path to production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220370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0–30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approved knowledge on-prem; security &amp; DPDP review; tighten retrieval; pilot one function.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2990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29535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SSO/IAM and DMS; add streaming voice; expand languages; governance dashboards + audit.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3739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57800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pilot; set SLAs (latency, 99.5%, grounding accuracy); human-in-the-loop review; broaden.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56232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solution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platform</a:t>
            </a:r>
            <a:endParaRPr lang="en-US" sz="2900" dirty="0"/>
          </a:p>
        </p:txBody>
      </p:sp>
      <p:pic>
        <p:nvPicPr>
          <p:cNvPr id="5" name="Image 0" descr="/home/claude/deck/assets/o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371600"/>
            <a:ext cx="24688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925312" y="2606040"/>
            <a:ext cx="320040" cy="0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208776" y="2560320"/>
            <a:ext cx="91440" cy="91440"/>
          </a:xfrm>
          <a:prstGeom prst="ellipse">
            <a:avLst/>
          </a:prstGeom>
          <a:solidFill>
            <a:srgbClr val="9AA0A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0" y="1389888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Assistant  ★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Assist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Marketing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Onboarding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Copilot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Risk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RCSA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Assistant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297680"/>
            <a:ext cx="81381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Sarvam foundation — the same stack delivers all eight modules, on-prem and governed.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Architecture detail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 architecture behind the assistant — for the technically curious, and the backbone of the walkthrough video.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4128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274320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035808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external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74320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47488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74320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59168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escalation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key for the diagrams that follow.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A-1 · System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42316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employee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in Hindi / English / Hinglish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13716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2044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/ IAM (planned)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3317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PNB Sahayak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+ orchestration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stack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· TTS · Translate · LLM · OCR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148840"/>
            <a:ext cx="26517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PNB documents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 / knowledge 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310896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26680" y="31089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sheet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0936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analytics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· 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0" y="2788920"/>
            <a:ext cx="777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51960" y="192024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89120" y="19659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278892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89320" y="1554480"/>
            <a:ext cx="0" cy="28117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89320" y="15544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89320" y="34747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89320" y="43662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543800" y="3474720"/>
            <a:ext cx="182880" cy="0"/>
          </a:xfrm>
          <a:prstGeom prst="line">
            <a:avLst/>
          </a:prstGeom>
          <a:noFill/>
          <a:ln w="19050">
            <a:solidFill>
              <a:srgbClr val="EC7A1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sits between employees and the Sarvam stack — answering only from approved documents, escalating misses via n8n, and logging every interaction for governance.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A-2 · Component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133856"/>
            <a:ext cx="256032" cy="256032"/>
          </a:xfrm>
          <a:prstGeom prst="ellips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33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— mic, live captions, “show-the-work” panel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72184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508760"/>
            <a:ext cx="256032" cy="256032"/>
          </a:xfrm>
          <a:prstGeom prst="ellips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472184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/ orchestration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request routing + efficiency levers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1883664"/>
            <a:ext cx="256032" cy="256032"/>
          </a:xfrm>
          <a:prstGeom prst="ellipse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184708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Saaras (STT)  ·  Bulbul (TTS)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2258568"/>
            <a:ext cx="256032" cy="256032"/>
          </a:xfrm>
          <a:prstGeom prst="ellipse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221992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Mayura / Translate — in &amp; out, language-locked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2633472"/>
            <a:ext cx="256032" cy="256032"/>
          </a:xfrm>
          <a:prstGeom prst="ellips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596896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→ BM25 index (~1,683 passages) → relevance gate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3008376"/>
            <a:ext cx="256032" cy="256032"/>
          </a:xfrm>
          <a:prstGeom prst="ellipse">
            <a:avLst/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2971800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C7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 — grounded answer + citation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94360" y="3383280"/>
            <a:ext cx="256032" cy="256032"/>
          </a:xfrm>
          <a:prstGeom prst="ellips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3346704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escalation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→ Google Sheet ticket + local backup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94360" y="3758184"/>
            <a:ext cx="256032" cy="256032"/>
          </a:xfrm>
          <a:prstGeom prst="ellipse">
            <a:avLst/>
          </a:prstGeom>
          <a:solidFill>
            <a:srgbClr val="AEB4B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372160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observability 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→ dashboard  ·  audit trail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133088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C7A1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51560" y="413308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  </a:t>
            </a:r>
            <a:pPr indent="0" marL="0">
              <a:buNone/>
            </a:pPr>
            <a:r>
              <a:rPr lang="en-US" sz="11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stack — sovereign, on-prem-capable, DPDP / RBI-aligned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= Sarvam-powered layers.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A-3 · End-to-end sequence &amp; data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92608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speak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language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Saaras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+ detect  ~1s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16352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English  ~0.5s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78224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078224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2–3  ~50ms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0096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40096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cite  ~2s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01968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01968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user lang  ~0.5s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874520"/>
            <a:ext cx="1097280" cy="868680"/>
          </a:xfrm>
          <a:prstGeom prst="roundRect">
            <a:avLst>
              <a:gd name="adj" fmla="val 6316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63840" y="1874520"/>
            <a:ext cx="1097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Bulbul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speak  ~1.5s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89888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651760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913632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75504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37376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99248" y="23088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26864" y="2743200"/>
            <a:ext cx="0" cy="457200"/>
          </a:xfrm>
          <a:prstGeom prst="line">
            <a:avLst/>
          </a:prstGeom>
          <a:noFill/>
          <a:ln w="19050">
            <a:solidFill>
              <a:srgbClr val="EC7A1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38144" y="32004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38144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relevant passage → escalate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88736" y="2743200"/>
            <a:ext cx="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888736" y="3474720"/>
            <a:ext cx="1426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15200" y="34747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1264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→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~4–6s per turn (text in ~2–3s, audio follows). Language is locked to what the user spoke. Real-time captions run on a separate streaming path.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A-4 · RAG pipeline &amp; grounding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1737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PNB docs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(PoC) / DMS (prod)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4173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6888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+ Vision OCR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direct · 2 scanned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+ chunk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source tags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~1,683 passages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7830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80560" y="17830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583680" y="17830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0" y="214884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651760"/>
            <a:ext cx="4434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37560" y="265176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(English)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10896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6888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2–3 + scores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10896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8056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gate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≥ threshold?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29400" y="3108960"/>
            <a:ext cx="20574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 + cite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4747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206240" y="34747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55080" y="34747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09360" y="3200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17820" y="3840480"/>
            <a:ext cx="0" cy="320040"/>
          </a:xfrm>
          <a:prstGeom prst="line">
            <a:avLst/>
          </a:prstGeom>
          <a:noFill/>
          <a:ln w="19050">
            <a:solidFill>
              <a:srgbClr val="EC7A1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0" y="38862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4160520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480560" y="4160520"/>
            <a:ext cx="1874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(no model call)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Retrieval-gated and citation-enforced: the model only sees retrieved passages, must cite its source, and never runs when nothing relevant is found — the concrete control behind “no hallucination.”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A-5 · Agentic escalation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asks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7373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approved documents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3756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Confident, relevant answer?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0" y="22402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292608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737360" y="3127248"/>
            <a:ext cx="56692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737360" y="3127248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28800" y="3145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3127248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314553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310128"/>
            <a:ext cx="23774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cited source + confidence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10128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3310128"/>
            <a:ext cx="2377440" cy="6583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“I don’t have that”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ticket: n8n → Google Sheet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34640" y="406908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83464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logged → knowledge-gap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3968496"/>
            <a:ext cx="0" cy="45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737360" y="4014216"/>
            <a:ext cx="1920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0" y="4014216"/>
            <a:ext cx="0" cy="548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06640" y="3968496"/>
            <a:ext cx="0" cy="45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486400" y="4014216"/>
            <a:ext cx="19202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486400" y="4014216"/>
            <a:ext cx="0" cy="548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never guesses: a miss becomes an honest reply plus an automatically tracked ticket, and every interaction is logged so gaps surface for the policy team.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A-6 · Deployment, sovereignty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6126480" cy="3063240"/>
          </a:xfrm>
          <a:prstGeom prst="roundRect">
            <a:avLst>
              <a:gd name="adj" fmla="val 2388"/>
            </a:avLst>
          </a:prstGeom>
          <a:solidFill>
            <a:srgbClr val="F7F5F2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81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PNB environment — on-prem / private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+ orchestration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× 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96596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+ BM25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~1,683 passages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/ knowledge 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78892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· dashboard · audit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11880"/>
            <a:ext cx="5532120" cy="54864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 w="12700">
            <a:solidFill>
              <a:srgbClr val="C9CD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611880"/>
            <a:ext cx="55321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 → ingestion pipeline (Sarvam Vision OCR for scans)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233172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2331720"/>
            <a:ext cx="196596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Saaras · Bulbul · 30B/105B · Mayura · Vision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365760" cy="0"/>
          </a:xfrm>
          <a:prstGeom prst="line">
            <a:avLst/>
          </a:prstGeom>
          <a:noFill/>
          <a:ln w="19050">
            <a:solidFill>
              <a:srgbClr val="EC7A1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365760" cy="0"/>
          </a:xfrm>
          <a:prstGeom prst="line">
            <a:avLst/>
          </a:prstGeom>
          <a:noFill/>
          <a:ln w="19050">
            <a:solidFill>
              <a:srgbClr val="EC7A12"/>
            </a:solidFill>
            <a:prstDash val="solid"/>
            <a:headEnd type="triangle"/>
            <a:tailEnd type="none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inside the bank’s boundary; Sarvam is deployed on-prem or reached over a private, IP-whitelisted link, so no document data leaves. SSO/IAM (planned) governs access; secrets are vaulted; data is encrypted in transit and at rest.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A-7 · Evaluation, governance &amp; compliance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794760" cy="3200400"/>
          </a:xfrm>
          <a:prstGeom prst="roundRect">
            <a:avLst>
              <a:gd name="adj" fmla="val 1714"/>
            </a:avLst>
          </a:prstGeom>
          <a:solidFill>
            <a:srgbClr val="F7F5F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prove grounding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Q&amp;A set — real questions, verified answers + correct source.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scoring — grounding, retrieval relevance, correctness.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on every change to documents or prompts.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of all low-confidence and escalated cases.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for jailbreaks and out-of-scope prompts.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RFP requirement  →  our control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562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gate + citations + evaluation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562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&amp; explainability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+ confidence logged per answer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562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sovereignty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On-prem / private endpoints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562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DPDP &amp; RBI FREE-AI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Minimisation, access control, human-in-loop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562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SLAs &amp; quality KPIs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 uptime; grounding accuracy tracked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PNB Sahayak — Business Write-up</dc:title>
  <dc:subject>PptxGenJS Presentation</dc:subject>
  <dc:creator>Vibhor Bansal</dc:creator>
  <cp:lastModifiedBy>Vibhor Bansal</cp:lastModifiedBy>
  <cp:revision>1</cp:revision>
  <dcterms:created xsi:type="dcterms:W3CDTF">2026-07-01T13:54:33Z</dcterms:created>
  <dcterms:modified xsi:type="dcterms:W3CDTF">2026-07-01T13:54:33Z</dcterms:modified>
</cp:coreProperties>
</file>