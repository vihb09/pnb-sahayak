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70432"/>
            <a:ext cx="9144000" cy="2788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9480" y="15179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4008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FF0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PNB SAHAYAK  ·  PLATFORM VISION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3504" y="2542032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use cases,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Sarvam foundation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3621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0" y="3621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BE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the proven Employee Assistant across the full PNB GenAI RFP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444398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Vibhor Bansal   ·   Pre-Sales / Solution Architect   ·   Companion to Deck 1 (Use Case 7)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PNB GenAI RFP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4023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Generative-AI tender from Punjab National Bank on the GeM portal (Mar 2026, 141 pages).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seeks an implementation partner to design, build and operationalise GenAI use cases.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production-grade use cases across the bank — real workflows, not experiments.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run on-prem, governed and compliant, at national scale.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PNB at a glance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212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102,746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12280" y="2212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10,189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12280" y="2926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100M+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12280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is the point — small per-task savings compound across a very large workforce and customer base.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requirements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RFP asks for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01368"/>
            <a:ext cx="41148" cy="603504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647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production-grade use cases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0939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workflows across the bank — not demos.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801368"/>
            <a:ext cx="41148" cy="603504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7647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 / data residency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46320" y="20939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and data stay inside PNB's boundary.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41148" cy="603504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DPDP + RBI FREE-AI alignment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29626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Governed, auditable, human-accountable AI.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670048"/>
            <a:ext cx="41148" cy="603504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6334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languages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46320" y="29626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staff and customers across many Indic languages.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38728"/>
            <a:ext cx="41148" cy="603504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02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38313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approve consequential outputs.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538728"/>
            <a:ext cx="41148" cy="603504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502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SLAs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46320" y="38313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Availability, accuracy and monitoring, at scale.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sovereign, Indic, on-prem, governed stack is exactly what this calls for.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portfolio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modules, three themes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&amp; growth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254203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2677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Assist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16352"/>
            <a:ext cx="254203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816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Marketing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364992"/>
            <a:ext cx="254203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36499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Copilot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13632"/>
            <a:ext cx="254203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9136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Onboarding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10128" y="1783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compliance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10128" y="2267712"/>
            <a:ext cx="254203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2677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Risk Dashboard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10128" y="2816352"/>
            <a:ext cx="254203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816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RCSA Standardization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17336" y="1783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&amp; engineering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17336" y="2267712"/>
            <a:ext cx="2542032" cy="475488"/>
          </a:xfrm>
          <a:prstGeom prst="roundRect">
            <a:avLst>
              <a:gd name="adj" fmla="val 11538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81928" y="22677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Employee Assistant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7 · Built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17336" y="2816352"/>
            <a:ext cx="254203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2816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Assistant</a:t>
            </a:r>
            <a:endParaRPr lang="en-US" sz="1150" dirty="0"/>
          </a:p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462272"/>
            <a:ext cx="813816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354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eight on one Sarvam foundation — Saaras · Bulbul · Sarvam-30B / 105B · Mayura · Vision.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governed foundation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· customers · officers · developers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Use-case modules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3317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modules — one built, seven as reference architectures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Sarvam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8803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Saaras · Bulbul · Sarvam-30B / 105B · Mayura · Vision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4290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· CRM · EDW / Data Lake · DMS · Bureau &amp; Govt APIs · IAM/SSO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7F5F2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Wrapped end-to-end by governance, security &amp; evaluation 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· RBI FREE-AI · human-in-the-loop · audit · red-teaming · 99.5% SLA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5902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pattern, reused by every module: ingest → OCR → RAG → a right-sized Sarvam model → human sign-off → audit — governed and on-prem.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1  ·  CREDIT   ·   REF.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Assist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corporate-loan credit note means slow, manual gathering of financials, tax filings, banking conduct and bureau data — then drafting a risk narrative by hand. It is inconsistent and time-consuming.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build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30552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Auto-aggregate borrower data and draft a note with ratios and a risk score.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Retrieval-grounded on credit policy and borrower documents — every figure traceable.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edits and signs off (human-in-the-loop).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docs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· ITR · GST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17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17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Vision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+ RAG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bureau · MCA · CBS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46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46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Sarvam-105B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+ risk score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sign-off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credit note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01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16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30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5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0292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mandatory · explainable rationale (RBI) · on-prem for confidential borrower data.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2  ·  MARKETING   ·   REF.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Digital Marketing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campaigns get low engagement, and manual content can't scale across segments, channels and languages.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build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30552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customers and auto-generate personalized content in Indian languages.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and compliance guardrails on everything generated.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A/B tests, measure engagement, and optimize.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17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17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recommend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content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46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46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filter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brand-safe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+ A/B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· SMS · app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01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16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30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5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0292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consent + anonymisation · brand, compliance and image-copyright guardrails · opt-out handling.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3  ·  SALES GROWTH   ·   REF.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Copilot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managers can't tell which leads to prioritise or how to pitch, and cross- and up-sell signals get missed.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build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30552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leads by propensity and surface the next-best offer.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personalized, multilingual pitch scripts.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outcomes in an RM dashboard and learn from them.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+ txns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17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17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 rank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Next-best-offer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46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46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script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outcomes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01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16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30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5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0292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Suitability / mis-selling guardrails · explainable recommendations · data privacy.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4  ·  ONBOARDING  ·  AGENTIC   ·   REF.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CASA Onboarding Assistant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current/savings accounts means slow manual checking of the Account Opening Form plus PAN, Aadhaar and Board Resolution for completeness and cross-consistency.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build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30552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agentic pipeline digitises, classifies and cross-validates fields across documents.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gaps and mismatches; emits a structured account-readiness output.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approves before the account is created in CBS.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 AOF + KYC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17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17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Vision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fields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CKYC · PAN · GSTN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46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46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&amp; consistent?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→ flagged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approves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create in CBS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01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16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30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5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0292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RFP's agentic flagship · strict KYC/AML · human approval before account creation · full audit · on-prem.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4   ·   CASA ONBOARDING   ·   REF.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agentic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orchestrator coordinates four specialized agents — each a single, auditable, tool-using step, which is more accurate and traceable than one opaque model call: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91440" cy="91440"/>
          </a:xfrm>
          <a:prstGeom prst="ellipse">
            <a:avLst/>
          </a:prstGeom>
          <a:solidFill>
            <a:srgbClr val="EC7A12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8712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—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each document into fields (Sarvam Vision).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91440" cy="91440"/>
          </a:xfrm>
          <a:prstGeom prst="ellipse">
            <a:avLst/>
          </a:prstGeom>
          <a:solidFill>
            <a:srgbClr val="EC7A1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20040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—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AOF, PAN, Aadhaar, Board Resolution.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30168"/>
            <a:ext cx="91440" cy="91440"/>
          </a:xfrm>
          <a:prstGeom prst="ellipse">
            <a:avLst/>
          </a:prstGeom>
          <a:solidFill>
            <a:srgbClr val="EC7A12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52958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—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fields agree; calls CKYC · PAN · GSTN.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91440" cy="91440"/>
          </a:xfrm>
          <a:prstGeom prst="ellipse">
            <a:avLst/>
          </a:prstGeom>
          <a:solidFill>
            <a:srgbClr val="EC7A12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8587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Gap-resolution —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anything missing or inconsistent.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874520"/>
            <a:ext cx="393192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C9CDD2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01768" y="200253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Account-readiness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01768" y="227685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Traders Pvt Ltd   ·   current account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01768" y="2587752"/>
            <a:ext cx="3529584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0056" y="2743200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2" name="Text 20"/>
          <p:cNvSpPr/>
          <p:nvPr/>
        </p:nvSpPr>
        <p:spPr>
          <a:xfrm>
            <a:off x="5239512" y="26700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match — AOF · PAN · Aadhaar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0056" y="3017520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4" name="Text 22"/>
          <p:cNvSpPr/>
          <p:nvPr/>
        </p:nvSpPr>
        <p:spPr>
          <a:xfrm>
            <a:off x="5239512" y="294436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consistency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0056" y="3291840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6" name="Text 24"/>
          <p:cNvSpPr/>
          <p:nvPr/>
        </p:nvSpPr>
        <p:spPr>
          <a:xfrm>
            <a:off x="5239512" y="321868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 verified (NSDL) · CKYC found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0056" y="3566160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8" name="Text 26"/>
          <p:cNvSpPr/>
          <p:nvPr/>
        </p:nvSpPr>
        <p:spPr>
          <a:xfrm>
            <a:off x="5239512" y="349300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/ sanctions screen — clear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0056" y="3840480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5239512" y="37673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Resolution — signatory missing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01768" y="408736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 item flagged — needs officer sign-off before CBS creation.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  </a:t>
            </a:r>
            <a:pPr indent="0" marL="0">
              <a:buNone/>
            </a:pPr>
            <a:r>
              <a:rPr lang="en-US" sz="95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KYC/AML · officer approves before any account is created · full audit trail · on-prem residency · no action taken from document content.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5  ·  RISK   ·   REF.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Risk Dashboard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data is scattered across systems, so senior management lacks a live, explained enterprise-risk view.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build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30552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and score multi-source risk data; detect anomalies and early warnings.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narrative explanations of what is changing and why.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heat map with alerts routed to risk owners.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sources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· audit · fraud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17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17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+ NLP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+ anomaly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46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46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map + alerts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management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01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16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30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5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0292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auditable scores · Basel II/III alignment · data governance · alert routing.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6  ·  COMPLIANCE   ·   REF.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RCSA Standardization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department documents risks and controls differently — inconsistent, hard to compare and hard to audit.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build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30552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 the risk and control taxonomy across units.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control effectiveness and compute residual risk.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a dynamic, audit-ready library; risk team validates.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· loss · audits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17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17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taxonomy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check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residual risk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46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46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team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RCSA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01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16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30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5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0292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 · human validation · consistency across units.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8  ·  ENGINEERING   ·   REF.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Assistant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code review is slow and inconsistent, so defects and security gaps slip through.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we'd build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30552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Auto-review every code change for defects, security and standards.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In-line recommendations for developers on each pull request.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on every review; humans still make the merge decision.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change (PR)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17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EC7A12"/>
          </a:solidFill>
          <a:ln/>
          <a:effectLst>
            <a:outerShdw sx="100000" sy="100000" kx="0" ky="0" algn="bl" rotWithShape="0" blurRad="635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17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CE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· security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464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C7A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464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+ merge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60920" y="356616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C9C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566160"/>
            <a:ext cx="13716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01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16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309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5452" y="3954780"/>
            <a:ext cx="288036" cy="0"/>
          </a:xfrm>
          <a:prstGeom prst="line">
            <a:avLst/>
          </a:prstGeom>
          <a:noFill/>
          <a:ln w="15875">
            <a:solidFill>
              <a:srgbClr val="9AA0A6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0292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/ code never leaves the bank · human merge decision · CI/CD-integrated · audit trail.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&amp; cost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to be efficient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outcomes for less — right-size the model to the task, and do only the model work each task actually needs.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58568"/>
            <a:ext cx="41148" cy="566928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219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Right-sized models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2532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Sarvam-30B for most tasks; the larger 105B only for heavy reasoning like credit notes.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258568"/>
            <a:ext cx="41148" cy="566928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2219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less model work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46320" y="2532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Retrieval-gating skips the LLM on misses; cap answer length; reasoning off for simple queries; cache.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41148" cy="566928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535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document AI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3264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Vision OCR at ~₹0.5 / page — document intelligence at scale for onboarding and credit.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990088"/>
            <a:ext cx="41148" cy="566928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9535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extra steps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46320" y="3264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only when the languages differ; batch requests; reuse the retrieval index.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721608"/>
            <a:ext cx="41148" cy="566928"/>
          </a:xfrm>
          <a:prstGeom prst="rect">
            <a:avLst/>
          </a:prstGeom>
          <a:solidFill>
            <a:srgbClr val="EC7A1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850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 economics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" y="3995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capacity-based cost; no per-call cloud markup; data never leaves the bank.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PNB's scale, right-sizing and skipping needless calls compound into real, recurring savings.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5240" y="3291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5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summary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built, seven to follow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9788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all, from India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Employee Assistant end-to-end on real PNB documents (Deck 1). The other seven are reference architectures on the same governed Sarvam foundation — ready to build in phases.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Assistant (live PoC) + Coding Assistant — fast, low-risk, all on-prem.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944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Onboarding — the RFP's agentic flagship, highest operational impact.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4015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Assist · RM Copilot · Personalized Marketing — customer &amp; growth.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8587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Risk · RCSA — enterprise risk &amp; compliance.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370832"/>
            <a:ext cx="8138160" cy="0"/>
          </a:xfrm>
          <a:prstGeom prst="line">
            <a:avLst/>
          </a:prstGeom>
          <a:noFill/>
          <a:ln w="12700">
            <a:solidFill>
              <a:srgbClr val="ECEE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439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56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  </a:t>
            </a:r>
            <a:pPr indent="0" marL="0">
              <a:buNone/>
            </a:pPr>
            <a:r>
              <a:rPr lang="en-US" sz="105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time-boxed on-prem pilot; scale module by module on one Sarvam foundation.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PNB Sahayak — Platform (Deck 2)</dc:title>
  <dc:subject>PptxGenJS Presentation</dc:subject>
  <dc:creator>Vibhor Bansal</dc:creator>
  <cp:lastModifiedBy>Vibhor Bansal</cp:lastModifiedBy>
  <cp:revision>1</cp:revision>
  <dcterms:created xsi:type="dcterms:W3CDTF">2026-07-01T13:05:09Z</dcterms:created>
  <dcterms:modified xsi:type="dcterms:W3CDTF">2026-07-01T13:05:09Z</dcterms:modified>
</cp:coreProperties>
</file>